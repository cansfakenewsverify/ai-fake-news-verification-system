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進度報告｜2026 年 9 月 21–23 日</a:t>
            </a:r>
            <a:endParaRPr lang="zh-TW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</a:t>
            </a:r>
            <a:endParaRPr lang="zh-TW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假訊息與詐騙查證系統</a:t>
            </a:r>
            <a:endParaRPr lang="zh-TW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原專題名稱「AI 為核心的假訊息驗證系統」的重做版。貼上訊息，或在 Threads 標記機器人，就能拿到 AI 判定與已做出判定的查核來源。</a:t>
            </a:r>
            <a:endParaRPr lang="zh-TW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</a:t>
            </a:r>
            <a:endParaRPr lang="zh-TW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600" dirty="0"/>
          </a:p>
        </p:txBody>
      </p:sp>
      <p:sp>
        <p:nvSpPr>
          <p:cNvPr id="9" name="Shape 7"/>
          <p:cNvSpPr/>
          <p:nvPr/>
        </p:nvSpPr>
        <p:spPr>
          <a:xfrm>
            <a:off x="4617720" y="4069080"/>
            <a:ext cx="3794760" cy="749808"/>
          </a:xfrm>
          <a:prstGeom prst="roundRect">
            <a:avLst>
              <a:gd name="adj" fmla="val 12195"/>
            </a:avLst>
          </a:prstGeom>
          <a:solidFill>
            <a:srgbClr val="111111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41513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機器人（本週為模擬模式）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120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　</a:t>
            </a:r>
            <a:pPr algn="l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廖晢勛（負責人／測試負責人）· 石岱勳（介面測試）· 姚睿（績效與品質數據）· 張宇宏（文件與審查）· 廖育翔（影片與簡報）</a:t>
            </a:r>
            <a:endParaRPr lang="zh-TW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指導教授　</a:t>
            </a:r>
            <a:pPr algn="l" indent="0" marL="0">
              <a:lnSpc>
                <a:spcPct val="125000"/>
              </a:lnSpc>
              <a:buNone/>
            </a:pPr>
            <a:r>
              <a:rPr lang="zh-TW" alt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黃崇源</a:t>
            </a:r>
            <a:endParaRPr lang="zh-TW" sz="1400" dirty="0"/>
          </a:p>
        </p:txBody>
      </p:sp>
      <p:sp>
        <p:nvSpPr>
          <p:cNvPr id="13" name="Shape 11"/>
          <p:cNvSpPr/>
          <p:nvPr/>
        </p:nvSpPr>
        <p:spPr>
          <a:xfrm>
            <a:off x="9326880" y="658368"/>
            <a:ext cx="2203704" cy="5577840"/>
          </a:xfrm>
          <a:prstGeom prst="roundRect">
            <a:avLst>
              <a:gd name="adj" fmla="val 829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0" descr="C:/Users/user/AppData/Local/Temp/claude/C--Users-user-OneDrive----AI-Fake-News-Verification-System/4ca91489-55cb-4794-b2ba-cff44a29bcbd/scratchpad/img/S1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49808"/>
            <a:ext cx="202311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為什麼假訊息查證是「劣構問題」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〔需求分析〕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沒有單一標準答案</a:t>
            </a:r>
            <a:endParaRPr lang="zh-TW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zh-TW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種標籤，出現在同一則謠言上</a:t>
            </a:r>
            <a:endParaRPr lang="zh-TW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 SIM 卡謠言：ETtoday 的報導被標「假訊息」、華視的報導被標「安全」。判定對象必須是「被查核的主張」，而不是報導本身。</a:t>
            </a:r>
            <a:endParaRPr lang="zh-TW" sz="145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來源本身會髒</a:t>
            </a:r>
            <a:endParaRPr lang="zh-TW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63</a:t>
            </a:r>
            <a:endParaRPr lang="zh-TW" sz="5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筆熱門牆是 Google News 轉址（2026-09-15 稽核）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 237 筆沒有一筆做過來源分級；AI 還會引用求證平台上「有人問、還沒判定」的貼文。</a:t>
            </a:r>
            <a:endParaRPr lang="zh-TW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371600"/>
            <a:ext cx="3520440" cy="425196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限制一直在變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1488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5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zh-TW" sz="5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0632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 AI 服務同一天失效（2026-09-14）</a:t>
            </a:r>
            <a:endParaRPr lang="zh-TW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033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401、myai168 的 OpenAI 400 與 Claude 402；Meta 開發模式只讀得到測試者的貼文；原排程一週 152 小時做不完。每一項都得重新取捨。</a:t>
            </a:r>
            <a:endParaRPr lang="zh-TW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我們把「怎樣才算可信」本身當成需求來分析，而不是只接一個 AI API。</a:t>
            </a:r>
            <a:endParaRPr lang="zh-TW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走完一次完整設計循環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〔全部〕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00_consensus.md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</a:t>
            </a:r>
            <a:endParaRPr lang="zh-TW" sz="1600" dirty="0"/>
          </a:p>
        </p:txBody>
      </p:sp>
      <p:sp>
        <p:nvSpPr>
          <p:cNvPr id="8" name="Shape 6"/>
          <p:cNvSpPr/>
          <p:nvPr/>
        </p:nvSpPr>
        <p:spPr>
          <a:xfrm>
            <a:off x="2203704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5106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99970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01_spec.md v1.3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mockup 9 張畫板</a:t>
            </a:r>
            <a:endParaRPr lang="zh-TW" sz="1600" dirty="0"/>
          </a:p>
        </p:txBody>
      </p:sp>
      <p:sp>
        <p:nvSpPr>
          <p:cNvPr id="11" name="Shape 9"/>
          <p:cNvSpPr/>
          <p:nvPr/>
        </p:nvSpPr>
        <p:spPr>
          <a:xfrm>
            <a:off x="4100170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1571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96435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03_tickets.md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</a:t>
            </a:r>
            <a:endParaRPr lang="zh-TW" sz="1600" dirty="0"/>
          </a:p>
        </p:txBody>
      </p:sp>
      <p:sp>
        <p:nvSpPr>
          <p:cNvPr id="14" name="Shape 12"/>
          <p:cNvSpPr/>
          <p:nvPr/>
        </p:nvSpPr>
        <p:spPr>
          <a:xfrm>
            <a:off x="5996635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38037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92901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TP-FNV-2026-01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pytest ＋ CI</a:t>
            </a:r>
            <a:endParaRPr lang="zh-TW" sz="1600" dirty="0"/>
          </a:p>
        </p:txBody>
      </p:sp>
      <p:sp>
        <p:nvSpPr>
          <p:cNvPr id="17" name="Shape 15"/>
          <p:cNvSpPr/>
          <p:nvPr/>
        </p:nvSpPr>
        <p:spPr>
          <a:xfrm>
            <a:off x="7893101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34502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9366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D-05 資料清洗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DEF-01／02 修正</a:t>
            </a:r>
            <a:endParaRPr lang="zh-TW" sz="1600" dirty="0"/>
          </a:p>
        </p:txBody>
      </p:sp>
      <p:sp>
        <p:nvSpPr>
          <p:cNvPr id="20" name="Shape 18"/>
          <p:cNvSpPr/>
          <p:nvPr/>
        </p:nvSpPr>
        <p:spPr>
          <a:xfrm>
            <a:off x="9789566" y="1920240"/>
            <a:ext cx="21397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30968" y="1371600"/>
            <a:ext cx="1627632" cy="1097280"/>
          </a:xfrm>
          <a:prstGeom prst="roundRect">
            <a:avLst>
              <a:gd name="adj" fmla="val 666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85832" y="13716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storyboard.md</a:t>
            </a:r>
            <a:endParaRPr lang="zh-TW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</a:t>
            </a:r>
            <a:endParaRPr lang="zh-TW" sz="1600" dirty="0"/>
          </a:p>
        </p:txBody>
      </p:sp>
      <p:sp>
        <p:nvSpPr>
          <p:cNvPr id="23" name="Shape 21"/>
          <p:cNvSpPr/>
          <p:nvPr/>
        </p:nvSpPr>
        <p:spPr>
          <a:xfrm>
            <a:off x="10844784" y="2468880"/>
            <a:ext cx="0" cy="32004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62456" y="2788920"/>
            <a:ext cx="9482328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2456" y="2487168"/>
            <a:ext cx="0" cy="301752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28800" y="28620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第二次循環：2026 上半年的第一版做出可用 MVP → 這次針對第一版暴露的問題重做，每一步都留下文件可回溯</a:t>
            </a:r>
            <a:endParaRPr lang="zh-TW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 → 設計</a:t>
            </a:r>
            <a:endParaRPr lang="zh-TW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grill 共識 → 規格 v1.3（19 條功能需求、測試通過準則）→ mockup 9 張畫板＋強調色比較。規格經兩輪審查，共 45＋21 條意見。</a:t>
            </a:r>
            <a:endParaRPr lang="zh-TW" sz="1450" dirty="0"/>
          </a:p>
        </p:txBody>
      </p:sp>
      <p:sp>
        <p:nvSpPr>
          <p:cNvPr id="30" name="Shape 28"/>
          <p:cNvSpPr/>
          <p:nvPr/>
        </p:nvSpPr>
        <p:spPr>
          <a:xfrm>
            <a:off x="434340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1772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 → 測試驗證</a:t>
            </a:r>
            <a:endParaRPr lang="zh-TW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109 張票（primitives → screens → 後端／資料／Threads），報告週切片 A 已完成 69 張。測試計畫書 46 項、pytest 700＋前端 380、150 筆評測。</a:t>
            </a:r>
            <a:endParaRPr lang="zh-TW" sz="1450" dirty="0"/>
          </a:p>
        </p:txBody>
      </p:sp>
      <p:sp>
        <p:nvSpPr>
          <p:cNvPr id="33" name="Shape 31"/>
          <p:cNvSpPr/>
          <p:nvPr/>
        </p:nvSpPr>
        <p:spPr>
          <a:xfrm>
            <a:off x="8138160" y="342900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12480" y="36850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→ 展示</a:t>
            </a:r>
            <a:endParaRPr lang="zh-TW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4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dry-run → 人工審閱 → 套用。3 分鐘 demo 影片。整合 React、Vercel、FastAPI、向量檢索、LLM 閘道、Threads API、Cloudflare Tunnel。</a:t>
            </a:r>
            <a:endParaRPr lang="zh-TW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系統架構：一條查證管線、兩個入口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960120" y="3886200"/>
            <a:ext cx="10698480" cy="2286000"/>
          </a:xfrm>
          <a:prstGeom prst="roundRect">
            <a:avLst>
              <a:gd name="adj" fmla="val 4800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959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查證管線（三層快取）</a:t>
            </a:r>
            <a:endParaRPr lang="zh-TW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32588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32588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網站（手機／桌機）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endParaRPr lang="zh-TW" sz="1200" dirty="0"/>
          </a:p>
        </p:txBody>
      </p:sp>
      <p:sp>
        <p:nvSpPr>
          <p:cNvPr id="10" name="Shape 8"/>
          <p:cNvSpPr/>
          <p:nvPr/>
        </p:nvSpPr>
        <p:spPr>
          <a:xfrm>
            <a:off x="2468880" y="1783080"/>
            <a:ext cx="777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377440" y="14813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代理</a:t>
            </a:r>
            <a:endParaRPr lang="zh-TW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3258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00984" y="132588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雲端主機</a:t>
            </a:r>
            <a:endParaRPr lang="zh-TW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78308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132588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325880"/>
            <a:ext cx="1901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後端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資料：Supabase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網站與機器人</a:t>
            </a:r>
            <a:endParaRPr lang="zh-TW" sz="1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共用同一條管線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2423160"/>
            <a:ext cx="1810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0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報告版：模擬模式</a:t>
            </a:r>
            <a:endParaRPr lang="zh-TW" sz="1200" dirty="0"/>
          </a:p>
        </p:txBody>
      </p:sp>
      <p:sp>
        <p:nvSpPr>
          <p:cNvPr id="19" name="Shape 17"/>
          <p:cNvSpPr/>
          <p:nvPr/>
        </p:nvSpPr>
        <p:spPr>
          <a:xfrm>
            <a:off x="2468880" y="2880360"/>
            <a:ext cx="306324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926080" y="25877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輪詢提及／回覆</a:t>
            </a:r>
            <a:endParaRPr lang="zh-TW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1371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快取先擋掉重複的問題</a:t>
            </a:r>
            <a:endParaRPr lang="zh-TW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真的沒看過才花 AI 額度：每次 AI 查證約 USD 0.006，命中快取不花額度。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242316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8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93024" y="242316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 /r/{id}</a:t>
            </a:r>
            <a:endParaRPr lang="zh-TW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燈號＋摘要＋查核來源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9966960" y="2880360"/>
            <a:ext cx="45720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21240" y="26060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</a:t>
            </a:r>
            <a:endParaRPr lang="zh-TW" sz="9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2316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79024" y="2423160"/>
            <a:ext cx="1124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發文頁</a:t>
            </a:r>
            <a:endParaRPr lang="zh-TW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Intent</a:t>
            </a:r>
            <a:endParaRPr lang="zh-TW" sz="1100" dirty="0"/>
          </a:p>
        </p:txBody>
      </p:sp>
      <p:sp>
        <p:nvSpPr>
          <p:cNvPr id="28" name="Shape 26"/>
          <p:cNvSpPr/>
          <p:nvPr/>
        </p:nvSpPr>
        <p:spPr>
          <a:xfrm>
            <a:off x="1188720" y="4800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43584" y="480060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L1 內容 hash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p50 213 ms</a:t>
            </a:r>
            <a:endParaRPr lang="zh-TW" sz="1150" dirty="0"/>
          </a:p>
        </p:txBody>
      </p:sp>
      <p:sp>
        <p:nvSpPr>
          <p:cNvPr id="30" name="Shape 28"/>
          <p:cNvSpPr/>
          <p:nvPr/>
        </p:nvSpPr>
        <p:spPr>
          <a:xfrm>
            <a:off x="27432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6974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2" name="Shape 30"/>
          <p:cNvSpPr/>
          <p:nvPr/>
        </p:nvSpPr>
        <p:spPr>
          <a:xfrm>
            <a:off x="3154680" y="480060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9544" y="4800600"/>
            <a:ext cx="1993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L2 向量相似度 ≥ 0.75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只比對已證實的判定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3.06 s</a:t>
            </a:r>
            <a:endParaRPr lang="zh-TW" sz="1150" dirty="0"/>
          </a:p>
        </p:txBody>
      </p:sp>
      <p:sp>
        <p:nvSpPr>
          <p:cNvPr id="34" name="Shape 32"/>
          <p:cNvSpPr/>
          <p:nvPr/>
        </p:nvSpPr>
        <p:spPr>
          <a:xfrm>
            <a:off x="525780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212080" y="49103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未命中</a:t>
            </a:r>
            <a:endParaRPr lang="zh-TW" sz="850" dirty="0"/>
          </a:p>
        </p:txBody>
      </p:sp>
      <p:sp>
        <p:nvSpPr>
          <p:cNvPr id="36" name="Shape 34"/>
          <p:cNvSpPr/>
          <p:nvPr/>
        </p:nvSpPr>
        <p:spPr>
          <a:xfrm>
            <a:off x="566928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2414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L3 長庚 CGU AIR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8.8 s</a:t>
            </a:r>
            <a:endParaRPr lang="zh-TW" sz="1150" dirty="0"/>
          </a:p>
        </p:txBody>
      </p:sp>
      <p:sp>
        <p:nvSpPr>
          <p:cNvPr id="38" name="Shape 36"/>
          <p:cNvSpPr/>
          <p:nvPr/>
        </p:nvSpPr>
        <p:spPr>
          <a:xfrm>
            <a:off x="768096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92440" y="480060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47304" y="4800600"/>
            <a:ext cx="1901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 Tier 1／2／3</a:t>
            </a:r>
            <a:endParaRPr lang="zh-TW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知識庫寫入門檻</a:t>
            </a:r>
            <a:endParaRPr lang="zh-TW" sz="1150" dirty="0"/>
          </a:p>
        </p:txBody>
      </p:sp>
      <p:sp>
        <p:nvSpPr>
          <p:cNvPr id="41" name="Shape 39"/>
          <p:cNvSpPr/>
          <p:nvPr/>
        </p:nvSpPr>
        <p:spPr>
          <a:xfrm>
            <a:off x="10104120" y="5234940"/>
            <a:ext cx="36576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10058400" y="49103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回填</a:t>
            </a:r>
            <a:endParaRPr lang="zh-TW" sz="850" dirty="0"/>
          </a:p>
        </p:txBody>
      </p:sp>
      <p:sp>
        <p:nvSpPr>
          <p:cNvPr id="43" name="Shape 41"/>
          <p:cNvSpPr/>
          <p:nvPr/>
        </p:nvSpPr>
        <p:spPr>
          <a:xfrm>
            <a:off x="10469880" y="4800600"/>
            <a:ext cx="1051560" cy="868680"/>
          </a:xfrm>
          <a:prstGeom prst="can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469880" y="49377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knowledge_base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3337560"/>
            <a:ext cx="0" cy="3200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3657600"/>
            <a:ext cx="4983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7240" y="3657600"/>
            <a:ext cx="0" cy="157734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234940"/>
            <a:ext cx="411480" cy="0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96596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98280" y="4462272"/>
            <a:ext cx="0" cy="338328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65960" y="4462272"/>
            <a:ext cx="713232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8280" y="3355848"/>
            <a:ext cx="0" cy="1106424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54" name="Text 52"/>
          <p:cNvSpPr txBox="1"/>
          <p:nvPr/>
        </p:nvSpPr>
        <p:spPr>
          <a:xfrm>
            <a:off x="5852160" y="42245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命中／判定完成 → 結果頁</a:t>
            </a:r>
            <a:endParaRPr lang="zh-TW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960120" y="6236208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延遲為 2026-09-16 用戶端 p50。0.75 門檻為實測校準：同一謠言改寫版 0.79～0.82、不同謠言 ≤ 0.68、不同主題 ≤ 0.52。</a:t>
            </a:r>
            <a:endParaRPr lang="zh-TW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報告週範圍：先做影片看得到的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〔設計／修正〕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zh-TW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張票（03_tickets.md）</a:t>
            </a:r>
            <a:endParaRPr lang="zh-TW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zh-TW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張已完成（報告週切片 A）</a:t>
            </a:r>
            <a:endParaRPr lang="zh-TW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435608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h</a:t>
            </a:r>
            <a:endParaRPr lang="zh-TW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193852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原排程一週工時，做不完 → 改做切片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報告前完成</a:t>
            </a:r>
            <a:endParaRPr lang="zh-TW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文字／網址查證、結果頁 /r/{id}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分享到 Threads（Web Intent）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熱門牆、知識庫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來源分級與資料清洗（D-05 已套用）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模擬模式閉環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測試計畫書 v1.0＋本輪測試執行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gpt-5.4-mini 重跑評測、快取延遲量測（09-16 補做）</a:t>
            </a:r>
            <a:endParaRPr lang="zh-TW" sz="1400" dirty="0"/>
          </a:p>
        </p:txBody>
      </p:sp>
      <p:sp>
        <p:nvSpPr>
          <p:cNvPr id="18" name="Shape 16"/>
          <p:cNvSpPr/>
          <p:nvPr/>
        </p:nvSpPr>
        <p:spPr>
          <a:xfrm>
            <a:off x="434340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報告後（每項都有票）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實機串接：Meta App、測試者、token、兩段式發佈與錯誤分流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/bot 狀態頁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向量命中率重測（PF-2）、評測資料集擴充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深色全套截圖檢核、無障礙（P-18）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圖片查證（P1）、文件同步（B-25）</a:t>
            </a:r>
            <a:endParaRPr lang="zh-TW" sz="1400" dirty="0"/>
          </a:p>
        </p:txBody>
      </p:sp>
      <p:sp>
        <p:nvSpPr>
          <p:cNvPr id="21" name="Shape 19"/>
          <p:cNvSpPr/>
          <p:nvPr/>
        </p:nvSpPr>
        <p:spPr>
          <a:xfrm>
            <a:off x="8138160" y="251460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0" y="27706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明確不做</a:t>
            </a:r>
            <a:endParaRPr lang="zh-TW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337560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影片查證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FB／IG 平台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把使用者原文送 Google 搜尋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帳號登入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Webhook</a:t>
            </a:r>
            <a:endParaRPr lang="zh-TW" sz="1400" dirty="0"/>
          </a:p>
          <a:p>
            <a:pPr algn="l"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zh-TW" altLang="en-US" sz="13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理由：成本、隱私，或需要企業驗證</a:t>
            </a:r>
            <a:endParaRPr lang="zh-TW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來源分級：只有「已做出判定」的來源才算數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〔設計 → 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1　查核機構</a:t>
            </a:r>
            <a:endParaRPr lang="zh-TW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台灣事實查核中心、MyGoPen、有 RUMOR／NOT_RUMOR 回覆的 Cofacts、*.gov.tw、WHO／CDC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2　主流媒體查核報導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157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標題同時含查核語境與判定詞才算（判的是主張，不是報導）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92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3　其他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9417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對外不顯示、不寫入「已證實」、不參與向量命中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4206240" cy="1856232"/>
          </a:xfrm>
          <a:prstGeom prst="roundRect">
            <a:avLst>
              <a:gd name="adj" fmla="val 4926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44398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找不到 Tier 1／2 來源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3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結果頁明示「尚無查核機構證實」、不給綠燈；知識庫頁與向量命中只收已證實的判定。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對外只顯示 Tier 1／2：寧可說「還沒被證實」，也不硬給一個看起來有來源的答案。</a:t>
            </a:r>
            <a:endParaRPr lang="zh-TW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 D-05（2026-09-16 套用）</a:t>
            </a:r>
            <a:endParaRPr lang="zh-TW" sz="1300" dirty="0"/>
          </a:p>
        </p:txBody>
      </p:sp>
      <p:sp>
        <p:nvSpPr>
          <p:cNvPr id="18" name="Shape 16"/>
          <p:cNvSpPr/>
          <p:nvPr/>
        </p:nvSpPr>
        <p:spPr>
          <a:xfrm>
            <a:off x="5074920" y="1737360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知識庫</a:t>
            </a:r>
            <a:endParaRPr lang="zh-TW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236 → 218</a:t>
            </a:r>
            <a:endParaRPr lang="zh-TW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18470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已證實 128 筆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（113 筆帶向量）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未證實 90 筆保留、不對外</a:t>
            </a:r>
            <a:endParaRPr lang="zh-TW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2907792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78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熱門牆</a:t>
            </a:r>
            <a:endParaRPr lang="zh-TW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→ 24</a:t>
            </a:r>
            <a:endParaRPr lang="zh-TW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301752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全部已證實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只留三個查核網站的資料</a:t>
            </a:r>
            <a:endParaRPr lang="zh-TW" sz="1400" dirty="0"/>
          </a:p>
        </p:txBody>
      </p:sp>
      <p:sp>
        <p:nvSpPr>
          <p:cNvPr id="26" name="Shape 24"/>
          <p:cNvSpPr/>
          <p:nvPr/>
        </p:nvSpPr>
        <p:spPr>
          <a:xfrm>
            <a:off x="5074920" y="4078224"/>
            <a:ext cx="42062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5780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News 轉址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4622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→ 0</a:t>
            </a:r>
            <a:endParaRPr lang="zh-TW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8795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解析不出真正網址、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爬不到內文，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100"/>
              </a:spcAft>
              <a:buNone/>
            </a:pPr>
            <a:r>
              <a:rPr lang="zh-TW" altLang="en-US" sz="10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依規則不得當來源</a:t>
            </a:r>
            <a:endParaRPr lang="zh-TW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5285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流程：dry-run → 人工審閱 → 套用並自動備份。刪除的髒資料類型：徵才公告、小考題、闢謠 TOP10 列表、標籤雲、聊天碎片、一般新聞報導。以本地模型 gpt-oss:20b 做第二意見（300 筆，不花 OpenAI 額度）。</a:t>
            </a:r>
            <a:endParaRPr lang="zh-TW" sz="1050" dirty="0"/>
          </a:p>
        </p:txBody>
      </p:sp>
      <p:pic>
        <p:nvPicPr>
          <p:cNvPr id="31" name="Image 0" descr="C:/Users/user/AppData/Local/Temp/claude/C--Users-user-OneDrive----AI-Fake-News-Verification-System/4ca91489-55cb-4794-b2ba-cff44a29bcbd/scratchpad/img/S2_unverified_safe_375_light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1325880"/>
            <a:ext cx="2011680" cy="4828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9464040" y="61996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結果頁：黃燈「尚無查核機構證實」</a:t>
            </a:r>
            <a:endParaRPr lang="zh-TW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機器人：開發模式與上線條件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〔實作〕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212080" cy="731520"/>
          </a:xfrm>
          <a:prstGeom prst="roundRect">
            <a:avLst>
              <a:gd name="adj" fmla="val 1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258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poll -&gt; mention m1 -&gt; cache hash -&gt; sources: 1 x tier1 -&gt; reply sim_reply_1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4D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result_id=eb06622e-0592-4361-bfbd-0046b745cba6 frame_type=red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--poll 終端機實際輸出（模擬模式，L1 hash 命中、未呼叫 AI）</a:t>
            </a:r>
            <a:endParaRPr lang="zh-TW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21208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43200"/>
            <a:ext cx="182880" cy="182880"/>
          </a:xfrm>
          <a:prstGeom prst="ellipse">
            <a:avLst/>
          </a:prstGeom>
          <a:solidFill>
            <a:srgbClr val="D92D20"/>
          </a:solidFill>
          <a:ln w="6350">
            <a:solidFill>
              <a:srgbClr val="D92D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D92D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詐騙警告</a:t>
            </a:r>
            <a:endParaRPr lang="zh-TW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315468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冒用健保署名義的釣魚詐騙：</a:t>
            </a:r>
            <a:br/>
            <a:pPr algn="l" indent="0" marL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以「即日起停用、逾期停卡」製造急迫感誘騙點連結，</a:t>
            </a:r>
            <a:br/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健保署不會要求民眾點連結驗證健保卡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查核來源：https://www.mygopen.com/2026/08/line.html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完整判讀：https://fakenewsverify.vercel.app/r/eb06622e-…</a:t>
            </a:r>
            <a:endParaRPr lang="zh-TW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自動判讀，請自行查證。</a:t>
            </a:r>
            <a:endParaRPr lang="zh-TW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303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replies.jsonl 實際回覆內容（≤ 500 字；實機串接後格式相同，只換 Threads 用戶端）</a:t>
            </a:r>
            <a:endParaRPr lang="zh-TW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模擬模式文字提及 → 回覆寫入（3 輪實測，準則 ≤ 60 s）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325880"/>
            <a:ext cx="5349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在可疑貼文底下回覆並標記 @factcheck_tw_bot → 機器人回覆燈號、一句摘要、查核來源、結果頁連結（≤ 500 字，AI 幻覺出的死連結已被過濾）。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目前進度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模擬模式閉環可展示，處理流程與正式串接完全相同、只換 Threads 用戶端（讀本機 JSON、寫 replies.jsonl）。實機串接需 Meta App、測試者邀請、60 天 token，以及兩段式發佈與錯誤分流程式（T-12／T-13），排在報告後。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上線條件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zh-TW" altLang="en-US" sz="12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未審核前只讀得到測試者的公開貼文；公開給所有人需通過 Meta App Review 與企業驗證，論文列為上線條件。</a:t>
            </a:r>
            <a:endParaRPr lang="zh-TW" sz="1400" dirty="0"/>
          </a:p>
        </p:txBody>
      </p:sp>
      <p:pic>
        <p:nvPicPr>
          <p:cNvPr id="17" name="Image 0" descr="C:/Users/user/AppData/Local/Temp/claude/C--Users-user-OneDrive----AI-Fake-News-Verification-System/4ca91489-55cb-4794-b2ba-cff44a29bcbd/scratchpad/img/S1_threads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4572000"/>
            <a:ext cx="5486400" cy="158557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61996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網站首頁的說明卡：對使用者明示「目前為開發模式」</a:t>
            </a:r>
            <a:endParaRPr lang="zh-TW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影片（約 3 分鐘）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〔展示〕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063365"/>
          </a:xfrm>
          <a:prstGeom prst="roundRect">
            <a:avLst>
              <a:gd name="adj" fmla="val 27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3776472" y="2580323"/>
            <a:ext cx="685800" cy="685800"/>
          </a:xfrm>
          <a:prstGeom prst="triangl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4723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播放 demo 影片（約 3 分鐘）</a:t>
            </a:r>
            <a:endParaRPr lang="zh-TW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021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字幕全程標示模擬模式 · 線上播放：網站 /demo/demo_v0.4.0.mp4</a:t>
            </a:r>
            <a:endParaRPr lang="zh-TW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212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現場時間不足或影片另交時，只播鏡 3–8（Threads 模擬閉環 → AI 即時判讀，依分鏡約 2 分鐘）</a:t>
            </a:r>
            <a:endParaRPr lang="zh-TW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37160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　Threads 模擬閉環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標記機器人 → 命中快取的紅燈回覆 → 手機結果頁 → 分享回 Threads。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　三層快取實證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同一則謠言換個說法命中「語意相似」；全新訊息才交給 AI 即時判讀。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300"/>
              </a:spcAft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　誠實呈現</a:t>
            </a:r>
            <a:endParaRPr lang="zh-TW" sz="1400" dirty="0"/>
          </a:p>
          <a:p>
            <a:pPr algn="l" indent="0" marL="0">
              <a:lnSpc>
                <a:spcPct val="125000"/>
              </a:lnSpc>
              <a:spcAft>
                <a:spcPts val="2000"/>
              </a:spcAft>
              <a:buNone/>
            </a:pPr>
            <a:r>
              <a:rPr lang="zh-TW" altLang="en-US" sz="14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模擬模式全程標示、「尚無查核機構證實」橫幅、數據字卡只放已實測的數字。</a:t>
            </a:r>
            <a:endParaRPr lang="zh-TW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測試計畫 TP-FNV-2026-01 與目前證據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項</a:t>
            </a:r>
            <a:endParaRPr lang="zh-TW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類測試項目（P0 30）：操作 9、功能 16、介面 8、績效 7、品質 6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</a:t>
            </a:r>
            <a:endParaRPr lang="zh-TW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 pytest 全數通過（離線、零點數，執行約 1 分鐘）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zh-TW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前端單元測試全數通過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綠燈</a:t>
            </a:r>
            <a:endParaRPr lang="zh-TW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 test＋frontend 兩個 job（commit 49be377）</a:t>
            </a:r>
            <a:endParaRPr lang="zh-TW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868680"/>
                <a:gridCol w="685800"/>
                <a:gridCol w="1188720"/>
                <a:gridCol w="685800"/>
                <a:gridCol w="685800"/>
                <a:gridCol w="68580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通過（待補驗）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未通過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未執行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報告後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功能測試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介面測試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品質測試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" y="469087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本輪執行結果（2026-09-16，測試計畫書 §6.1）</a:t>
            </a:r>
            <a:endParaRPr lang="zh-TW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8348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已驗證、可引用的數字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980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筆評測 accuracy（FN 0、FP 0）</a:t>
            </a:r>
            <a:endParaRPr lang="zh-TW" sz="900" dirty="0"/>
          </a:p>
        </p:txBody>
      </p:sp>
      <p:sp>
        <p:nvSpPr>
          <p:cNvPr id="24" name="Shape 21"/>
          <p:cNvSpPr/>
          <p:nvPr/>
        </p:nvSpPr>
        <p:spPr>
          <a:xfrm>
            <a:off x="2270455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71623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ms</a:t>
            </a:r>
            <a:endParaRPr lang="zh-TW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2471623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hash 快取命中 p50（p95 257 ms）</a:t>
            </a:r>
            <a:endParaRPr lang="zh-TW" sz="900" dirty="0"/>
          </a:p>
        </p:txBody>
      </p:sp>
      <p:sp>
        <p:nvSpPr>
          <p:cNvPr id="27" name="Shape 24"/>
          <p:cNvSpPr/>
          <p:nvPr/>
        </p:nvSpPr>
        <p:spPr>
          <a:xfrm>
            <a:off x="3992270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193438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3.06 s</a:t>
            </a:r>
            <a:endParaRPr lang="zh-TW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193438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向量快取命中 p50</a:t>
            </a:r>
            <a:endParaRPr lang="zh-TW" sz="900" dirty="0"/>
          </a:p>
        </p:txBody>
      </p:sp>
      <p:sp>
        <p:nvSpPr>
          <p:cNvPr id="30" name="Shape 27"/>
          <p:cNvSpPr/>
          <p:nvPr/>
        </p:nvSpPr>
        <p:spPr>
          <a:xfrm>
            <a:off x="5714086" y="5285232"/>
            <a:ext cx="1600200" cy="896112"/>
          </a:xfrm>
          <a:prstGeom prst="roundRect">
            <a:avLst>
              <a:gd name="adj" fmla="val 10204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15254" y="5394960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205–264 ms</a:t>
            </a:r>
            <a:endParaRPr lang="zh-TW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915254" y="5760720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模擬回覆</a:t>
            </a:r>
            <a:endParaRPr lang="zh-TW" sz="900" dirty="0"/>
          </a:p>
        </p:txBody>
      </p:sp>
      <p:sp>
        <p:nvSpPr>
          <p:cNvPr id="33" name="Shape 30"/>
          <p:cNvSpPr/>
          <p:nvPr/>
        </p:nvSpPr>
        <p:spPr>
          <a:xfrm>
            <a:off x="7589520" y="2560320"/>
            <a:ext cx="4069080" cy="3621024"/>
          </a:xfrm>
          <a:prstGeom prst="roundRect">
            <a:avLst>
              <a:gd name="adj" fmla="val 3030"/>
            </a:avLst>
          </a:prstGeom>
          <a:solidFill>
            <a:srgbClr val="FFF7E6"/>
          </a:solidFill>
          <a:ln w="9525">
            <a:solidFill>
              <a:srgbClr val="FFF7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0" y="2697480"/>
            <a:ext cx="3703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450" b="1" dirty="0">
                <a:solidFill>
                  <a:srgbClr val="B547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 通過準則：重測後仍差 3 項 P0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2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通過：第一輪 23／30 → 重測後 27／30（含待補驗 4）。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第一輪未通過 3：FN-4（Threads 錯誤處理）與 QA-2（評測報告欄位）已修正、09-20 重測通過；PF-2 向量命中率 65% 未達 70%（差 1 筆）仍未通過——未命中句的相似度確實低於門檻，不調低門檻，10-05 前以組員審定題組重測。</a:t>
            </a:r>
            <a:endParaRPr lang="zh-TW" sz="1400" dirty="0"/>
          </a:p>
          <a:p>
            <a:pPr algn="l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第一輪未執行 4：PF-1 重測通過（未命中 p50 4.86 s／p90 6.64 s）、OP-1 全新安裝 4 分 07 秒（待補驗）；UI-1 深色全套與組員勾核、UI-6 簡繁比對仍未執行。</a:t>
            </a:r>
            <a:endParaRPr lang="zh-TW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審查建議：有條件通過——引用已驗證數字，同時揭露未達標項目與時程。</a:t>
            </a:r>
            <a:endParaRPr lang="zh-TW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評測結果：舊模型 vs 新模型（150 筆標註）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〔測試驗證〕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zh-TW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資料集：150 筆人工標註（SCAM／MISINFO／SAFE 各 50），刻意放入「像詐騙的合法官方訊息」當難題。</a:t>
            </a:r>
            <a:endParaRPr lang="zh-TW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舊：gpt-5-mini</a:t>
            </a:r>
            <a:endParaRPr lang="zh-TW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myai168 閘道 · 2026-06（git 9d63eef）</a:t>
            </a:r>
            <a:endParaRPr lang="zh-TW" sz="1050" dirty="0"/>
          </a:p>
        </p:txBody>
      </p:sp>
      <p:pic>
        <p:nvPicPr>
          <p:cNvPr id="10" name="Image 0" descr="C:/Users/user/AppData/Local/Temp/claude/C--Users-user-OneDrive----AI-Fake-News-Verification-System/4ca91489-55cb-4794-b2ba-cff44a29bcbd/scratchpad/img/cm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2788920" cy="22814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65760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96.0%</a:t>
            </a:r>
            <a:endParaRPr lang="zh-TW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5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新：gpt-5.4-mini</a:t>
            </a:r>
            <a:endParaRPr lang="zh-TW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18928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長庚 CGU AIR 閘道 · 2026-09-16 重跑（推理強度 medium、web_search 關）</a:t>
            </a:r>
            <a:endParaRPr lang="zh-TW" sz="1050" dirty="0"/>
          </a:p>
        </p:txBody>
      </p:sp>
      <p:pic>
        <p:nvPicPr>
          <p:cNvPr id="17" name="Image 1" descr="C:/Users/user/AppData/Local/Temp/claude/C--Users-user-OneDrive----AI-Fake-News-Verification-System/4ca91489-55cb-4794-b2ba-cff44a29bcbd/scratchpad/img/cm_n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4560"/>
            <a:ext cx="2788920" cy="22814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zh-TW" sz="4600" dirty="0"/>
          </a:p>
        </p:txBody>
      </p:sp>
      <p:sp>
        <p:nvSpPr>
          <p:cNvPr id="19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zh-TW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3337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</a:t>
            </a:r>
            <a:endParaRPr lang="zh-TW" sz="14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0 · FP 0</a:t>
            </a:r>
            <a:endParaRPr lang="zh-TW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FN ＝ 風險訊息被判成安全</a:t>
            </a:r>
            <a:endParaRPr lang="zh-TW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成對比較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兩模型判定不同的 6 筆全是「舊錯新對」（5 筆合法官方宣導被舊模型判成 SCAM、1 筆 MISINFO 判成 SCAM），0 筆「舊對新錯」；精確 McNemar 檢定 p = 0.031。舊模型那 6 筆的信心都 ≥ 0.9，代表信心未校準。</a:t>
            </a:r>
            <a:endParaRPr lang="zh-TW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800600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限制（老實說）</a:t>
            </a:r>
            <a:endParaRPr lang="zh-TW" sz="14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TW" altLang="en-US" sz="12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150 筆對新模型已飽和（accuracy 95% CI 下限 0.976），無法再區分模型或設定，需擴充資料集（例如 300 筆）並做信心校準；兩次也不只換模型——閘道與推理強度都不同，差異不能全歸因於模型本身。</a:t>
            </a:r>
            <a:endParaRPr lang="zh-TW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成本與風險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〔修正〕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</a:t>
            </a:r>
            <a:endParaRPr lang="zh-TW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新學期 CGU AIR 額度（另有本地模型 1,000 萬 tokens）；不另購 API</a:t>
            </a:r>
            <a:endParaRPr lang="zh-TW" sz="105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158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USD 1.2</a:t>
            </a:r>
            <a:endParaRPr lang="zh-TW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56158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截至 2026-09-16 已用：評測 0.94、影片配音與測試約 0.25</a:t>
            </a:r>
            <a:endParaRPr lang="zh-TW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336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0.006</a:t>
            </a:r>
            <a:endParaRPr lang="zh-TW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 AI 查證（未命中）平均；評測與批次一律關閉 web_search</a:t>
            </a:r>
            <a:endParaRPr lang="zh-TW" sz="1050" dirty="0"/>
          </a:p>
        </p:txBody>
      </p:sp>
      <p:sp>
        <p:nvSpPr>
          <p:cNvPr id="15" name="Shape 13"/>
          <p:cNvSpPr/>
          <p:nvPr/>
        </p:nvSpPr>
        <p:spPr>
          <a:xfrm>
            <a:off x="8983980" y="1280160"/>
            <a:ext cx="2674620" cy="1051560"/>
          </a:xfrm>
          <a:prstGeom prst="roundRect">
            <a:avLst>
              <a:gd name="adj" fmla="val 8696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5148" y="1389888"/>
            <a:ext cx="22722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0.14</a:t>
            </a:r>
            <a:endParaRPr lang="zh-TW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85148" y="1892808"/>
            <a:ext cx="2272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TW" alt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影片製作（配音、語音抽查、實錄）</a:t>
            </a:r>
            <a:endParaRPr lang="zh-TW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56032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 → 對策（每一項都有「壞了還能 demo」的退路）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94436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540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CGU 是唯一 AI 來源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05409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失敗回固定 fallback、不寫入知識庫、不回覆 Threads；額度用盡時網站顯示灰卡，不假裝判定。</a:t>
            </a:r>
            <a:endParaRPr lang="zh-TW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04164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5137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後端在免費雲端主機（Render）</a:t>
            </a:r>
            <a:endParaRPr lang="zh-TW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15137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09-19 已上雲（Render＋Supabase）：閒置會休眠，排程每 10 分鐘喚醒；每日 AI 上限 300 次；可退回個人電腦＋tunnel；影片預錄。</a:t>
            </a:r>
            <a:endParaRPr lang="zh-TW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138928"/>
            <a:ext cx="6309360" cy="987552"/>
          </a:xfrm>
          <a:prstGeom prst="roundRect">
            <a:avLst>
              <a:gd name="adj" fmla="val 9259"/>
            </a:avLst>
          </a:prstGeom>
          <a:solidFill>
            <a:srgbClr val="F7F7F8"/>
          </a:solidFill>
          <a:ln w="9525">
            <a:solidFill>
              <a:srgbClr val="F7F7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4865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zh-TW" altLang="en-US" sz="125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資料清洗可能過度降級，知識庫與向量命中縮水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2486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5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 dry-run、人工審閱後才套用並自動備份；已證實 128 筆 ≥ 門檻 125；向量命中率 65% 待重測（DEF-05 修 11 筆向量）。</a:t>
            </a:r>
            <a:endParaRPr lang="zh-TW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2560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本輪測試發現並修正的缺陷（都補了回歸測試）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7178040" y="294436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305409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</a:t>
            </a:r>
            <a:endParaRPr lang="zh-TW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05409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結果頁偶發 500：讀到寫一半的 tasks.parquet → 改先寫暫存檔再原子替換、讀取失敗重試；全套 478 通過、存取 log 0 次 5xx。</a:t>
            </a:r>
            <a:endParaRPr lang="zh-TW" sz="1100" dirty="0"/>
          </a:p>
        </p:txBody>
      </p:sp>
      <p:sp>
        <p:nvSpPr>
          <p:cNvPr id="32" name="Shape 30"/>
          <p:cNvSpPr/>
          <p:nvPr/>
        </p:nvSpPr>
        <p:spPr>
          <a:xfrm>
            <a:off x="7178040" y="404164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0920" y="415137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DEF-02</a:t>
            </a:r>
            <a:endParaRPr lang="zh-TW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1513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舊任務 AI 失敗的結果仍可「分享到 Threads」→ 改以 is_fallback() 推導 ai_unavailable，分享資料改為 null。</a:t>
            </a:r>
            <a:endParaRPr lang="zh-TW" sz="1100" dirty="0"/>
          </a:p>
        </p:txBody>
      </p:sp>
      <p:sp>
        <p:nvSpPr>
          <p:cNvPr id="35" name="Shape 33"/>
          <p:cNvSpPr/>
          <p:nvPr/>
        </p:nvSpPr>
        <p:spPr>
          <a:xfrm>
            <a:off x="7178040" y="5138928"/>
            <a:ext cx="44805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60920" y="524865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QA-2 ③</a:t>
            </a:r>
            <a:endParaRPr lang="zh-TW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24865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zh-TW" altLang="en-US" sz="1100" dirty="0">
                <a:solidFill>
                  <a:srgbClr val="11111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評測全對時錯誤檔殘留舊模型 6 筆 → 0 筆錯誤時輸出只有表頭的空檔。</a:t>
            </a:r>
            <a:endParaRPr lang="zh-TW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zh-TW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104120" y="53035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3F3F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〔下一輪循環〕</a:t>
            </a:r>
            <a:endParaRPr lang="zh-TW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全民查證公社 · 進度報告 2026-09</a:t>
            </a:r>
            <a:endParaRPr lang="zh-TW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0561320" y="6492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zh-TW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1691640"/>
            <a:ext cx="8550554" cy="0"/>
          </a:xfrm>
          <a:prstGeom prst="line">
            <a:avLst/>
          </a:prstGeom>
          <a:noFill/>
          <a:ln w="19050">
            <a:solidFill>
              <a:srgbClr val="3F3F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8216" y="1591056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09-21～23</a:t>
            </a:r>
            <a:endParaRPr lang="zh-TW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進度報告</a:t>
            </a:r>
            <a:endParaRPr lang="zh-TW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本簡報＋demo 影片</a:t>
            </a:r>
            <a:endParaRPr lang="zh-TW" sz="1150" dirty="0"/>
          </a:p>
        </p:txBody>
      </p:sp>
      <p:sp>
        <p:nvSpPr>
          <p:cNvPr id="11" name="Shape 9"/>
          <p:cNvSpPr/>
          <p:nvPr/>
        </p:nvSpPr>
        <p:spPr>
          <a:xfrm>
            <a:off x="4578401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82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09-24～30</a:t>
            </a:r>
            <a:endParaRPr lang="zh-TW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98825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Threads 實機串接</a:t>
            </a:r>
            <a:endParaRPr lang="zh-TW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98825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App、測試者、token；兩段式發佈與錯誤分流（T-12／T-13）→ 實機端到端回覆驗證 → /bot 狀態頁；文件同步 B-25</a:t>
            </a:r>
            <a:endParaRPr lang="zh-TW" sz="1150" dirty="0"/>
          </a:p>
        </p:txBody>
      </p:sp>
      <p:sp>
        <p:nvSpPr>
          <p:cNvPr id="15" name="Shape 13"/>
          <p:cNvSpPr/>
          <p:nvPr/>
        </p:nvSpPr>
        <p:spPr>
          <a:xfrm>
            <a:off x="7428586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901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10-05 前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49010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驗證補齊</a:t>
            </a:r>
            <a:endParaRPr lang="zh-TW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49010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向量命中率重測（先修 11 筆向量維度）；擴充評測資料集（300 筆）與信心校準；UI 深色全套與無障礙；計畫書 §6 更新</a:t>
            </a:r>
            <a:endParaRPr lang="zh-TW" sz="1150" dirty="0"/>
          </a:p>
        </p:txBody>
      </p:sp>
      <p:sp>
        <p:nvSpPr>
          <p:cNvPr id="19" name="Shape 17"/>
          <p:cNvSpPr/>
          <p:nvPr/>
        </p:nvSpPr>
        <p:spPr>
          <a:xfrm>
            <a:off x="10278770" y="1591056"/>
            <a:ext cx="201168" cy="201168"/>
          </a:xfrm>
          <a:prstGeom prst="ellipse">
            <a:avLst/>
          </a:prstGeom>
          <a:solidFill>
            <a:srgbClr val="1111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99194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上線前待決</a:t>
            </a:r>
            <a:endParaRPr lang="zh-TW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099194" y="2258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三個決定</a:t>
            </a:r>
            <a:endParaRPr lang="zh-TW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099194" y="27432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zh-TW" altLang="en-US" sz="115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低信心紅燈是否降為黃燈（D-6）；免費雲端方案能否長期使用（後端已於 09-19 上雲）；Meta App Review 與企業驗證</a:t>
            </a:r>
            <a:endParaRPr lang="zh-TW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109960" cy="1554480"/>
          </a:xfrm>
          <a:prstGeom prst="roundRect">
            <a:avLst>
              <a:gd name="adj" fmla="val 7059"/>
            </a:avLst>
          </a:prstGeom>
          <a:solidFill>
            <a:srgbClr val="1C1C1F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下一輪循環從實機串接開始；完成後把新評測與測試結果填進測試計畫書第 6 節。</a:t>
            </a:r>
            <a:endParaRPr lang="zh-TW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fakenewsverify.vercel.app</a:t>
            </a:r>
            <a:pPr algn="l" indent="0" marL="0">
              <a:buNone/>
            </a:pPr>
            <a:r>
              <a:rPr lang="zh-TW" altLang="en-US" sz="14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</a:t>
            </a:r>
            <a:pPr algn="l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@factcheck_tw_bot</a:t>
            </a:r>
            <a:pPr algn="l" indent="0" marL="0">
              <a:buNone/>
            </a:pPr>
            <a:r>
              <a:rPr lang="zh-TW" altLang="en-US" sz="1200" dirty="0">
                <a:solidFill>
                  <a:srgbClr val="A1A1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·　目前 Threads 為模擬模式；公開服務需通過 Meta App Review 與企業驗證</a:t>
            </a:r>
            <a:endParaRPr lang="zh-TW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641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文件：docs/rebuild/00_consensus.md → 01_spec.md → 03_tickets.md → docs/test/TP-FNV-2026-01.md → docs/demo/storyboard.md</a:t>
            </a:r>
            <a:endParaRPr lang="zh-TW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全民查證公社：AI 假訊息與詐騙查證系統（進度報告）</dc:title>
  <dc:subject>PptxGenJS Presentation</dc:subject>
  <dc:creator>全民查證公社</dc:creator>
  <cp:lastModifiedBy>全民查證公社</cp:lastModifiedBy>
  <cp:revision>1</cp:revision>
  <dcterms:created xsi:type="dcterms:W3CDTF">2026-09-19T03:50:23Z</dcterms:created>
  <dcterms:modified xsi:type="dcterms:W3CDTF">2026-09-19T03:50:23Z</dcterms:modified>
</cp:coreProperties>
</file>