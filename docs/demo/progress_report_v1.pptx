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〔0:15〕一句話介紹產品：貼上訊息，或在 Threads 標記機器人，就能拿到 AI 判定和已做出判定的查核來源。自我介紹團隊五人與指導教授；分工不逐一念。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〔0:40〕這個題目沒有標準答案、資料會髒、外部條件一直變，所以我們把「怎樣才算可信」本身當成需求來分析，而不是只接一個 AI API。三個數字都有來源檔：CLAUDE.md §9 的標籤不一致 bug、2026-09-15 稽核 check_before.txt、00_consensus.md §4 的三個 provider 同日失效。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〔0:40〕這是第二次跑完循環——2026 年上半年的第一版做出可用的 MVP，這次針對第一版暴露的問題重做，每一步都留下文件可以回溯。票數口徑：109 張票，報告週切片 A 已完成 69 張（git「實作票」批次 commit 加總 64 張，其中已含 O-14；再加 D-05、O-17～O-20 共 5 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〔0:45〕網站和機器人共用同一條管線，快取先擋掉重複的問題，真的沒看過才花 AI 額度。各層延遲是 2026-09-16 實測的用戶端 p50：hash 命中 213 ms、向量命中 3.06 s、AI 未命中 8.8 s（閘道同時承受 150 筆評測流量下量得）。0.75 門檻是實測校準值，不是拍腦袋。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〔0:30〕原排程一週 152 小時做不完，我們選擇「只做影片看得到的切片」，這是循環中「修正範圍」的決策，每一項延後都有對應的票。09-16 補做了 gpt-5.4-mini 重跑評測與快取延遲量測，所以評測那張可以新舊並列。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〔0:40〕查證平台最怕引用「還沒查證」的來源，所以我們寧可說「尚無查核機構證實」，也不硬給一個看起來有來源的答案。補充（被問到再講）：128 筆已證實中 113 筆帶向量，其中 11 筆向量維度不是 1536（DEF-05），實際可參與語意命中的是 102 筆，報告後重算。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〔0:30〕影片裡的機器人是模擬模式，字幕和這張都明講；實機串接還差 Meta 端設定與發佈、錯誤處理的程式（T-12／T-13），都排在報告後。模擬回覆 205–264 ms 是三輪實測。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〔3:05〕接下來播約三分鐘的 demo 影片，請留意字幕標示的模擬模式，以及找不到查核來源時系統怎麼表態。現場時間不足或影片另交時，只播分鏡的鏡 3–8（Threads 模擬閉環到 AI 即時判讀，依分鏡約 2 分鐘）。影片正在重製，以報告當天的最新版為準。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〔0:35〕測試準則在規格階段就先訂好，不是做完才補；目前功能測試每次提交都由 CI 自動跑。誠實說明：4.2 通過準則本輪未全數達成——P0 通過 23／30；FN-4（Threads 實機錯誤處理三項未實作）、PF-2（向量命中率 65%，差 1 筆）、QA-2（評測報告欄位）未通過；OP-1、UI-1、UI-6、PF-1 未執行；時程都寫在計畫書第 6 節，審查結論建議「有條件通過」。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〔0:35〕兩組數字並列：舊模型是換閘道前 2026-06 的成績；新模型 09-16 重跑 150 筆滿分，FN、FP 都是 0，McNemar 精確檢定 p = 0.031。但要老實講限制：150 筆對新模型已經飽和（95% CI 下限 0.976），而且兩次不是只換模型——閘道與推理強度也不同，所以下一步是擴充題庫再比。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〔0:35〕三個風險都準備了「壞了還能 demo」的退路，這也是模擬模式被列為必做的原因。成本：新學期 CGU 額度 USD 10，到 09-16 用了約 1.2（評測 0.94、影片配音與測試約 0.25），每次 AI 查證約 USD 0.006。本輪測試也抓到並修掉三個 bug，回歸測試都補了。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〔0:30〕下一輪循環從實機串接開始，完成後把新評測與測試結果填進計畫書第 6 節。
【Q&amp;A 備用：課程九項核心能力對應】
1 運用資工、數學、科學及工程知識：三層快取與向量相似度門檻實測校準；React、FastAPI、LLM 閘道、Threads API 整合（第 4 張）。
2 發掘、分析及處理系統運作問題：劣構問題分析；查核報導標籤不一致 bug；AI 服務全失效後切換到新學期 CGU 金鑰（第 2 張）。
3 設計與執行實驗、分析數據：150 筆評測、混淆矩陣與錯誤分析、新舊模型 McNemar 檢定（第 10 張）。
4 運用適當工具與現存模組：Git／GitHub Actions、Vercel、cloudflared、CGU AIR 閘道（第 4、9 張）。
5 規劃測試環境、執行測試與結果分析：TP-FNV-2026-01 五類 46 項；109 張票與報告週切片（第 5、9 張）。
6 撰寫與運用設計文件：共識 → 規格 → mockup → 票 → 測試計畫書 → 影片腳本（第 3 張）。
7 有效溝通與合作：5 人分工——廖晢勛（負責人／測試負責人）、石岱勳（影片與簡報）、姚睿（介面測試）、張宇宏（績效與品質數據）、廖昱翔（文件與審查）（第 1 張）。
8 資訊倫理與社會責任：來源分級、「尚無查核機構證實」、隱私政策與資料刪除頁、SSRF 防護、使用者原文不送搜尋引擎（第 6 張）。
9 永續發展（SDG）：SDG 16（具公信力的資訊查證）、SDG 9（第 2 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進度報告｜2026 年 9 月 21–23 日</a:t>
            </a:r>
            <a:endParaRPr lang="zh-TW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</a:t>
            </a:r>
            <a:endParaRPr lang="zh-TW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假訊息與詐騙查證系統</a:t>
            </a:r>
            <a:endParaRPr lang="zh-TW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原專題名稱「AI 為核心的假訊息驗證系統」的重做版。貼上訊息，或在 Threads 標記機器人，就能拿到 AI 判定與已做出判定的查核來源。</a:t>
            </a:r>
            <a:endParaRPr lang="zh-TW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111111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41513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</a:t>
            </a:r>
            <a:endParaRPr lang="zh-TW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endParaRPr lang="zh-TW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4069080"/>
            <a:ext cx="3794760" cy="749808"/>
          </a:xfrm>
          <a:prstGeom prst="roundRect">
            <a:avLst>
              <a:gd name="adj" fmla="val 12195"/>
            </a:avLst>
          </a:prstGeom>
          <a:solidFill>
            <a:srgbClr val="111111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41513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機器人（本週為模擬模式）</a:t>
            </a:r>
            <a:endParaRPr lang="zh-TW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@factcheck_tw_bot</a:t>
            </a:r>
            <a:endParaRPr lang="zh-TW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120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　</a:t>
            </a:r>
            <a:pPr algn="l"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zh-TW" alt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廖晢勛（負責人／測試負責人）· 石岱勳（影片與簡報）· 姚睿（介面測試）· 張宇宏（績效與品質數據）· 廖昱翔（文件與審查）</a:t>
            </a:r>
            <a:endParaRPr lang="zh-TW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　</a:t>
            </a:r>
            <a:pPr algn="l" indent="0" marL="0">
              <a:lnSpc>
                <a:spcPct val="125000"/>
              </a:lnSpc>
              <a:buNone/>
            </a:pPr>
            <a:r>
              <a:rPr lang="zh-TW" alt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＿＿＿＿＿＿＿＿</a:t>
            </a:r>
            <a:endParaRPr lang="zh-TW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658368"/>
            <a:ext cx="2203704" cy="5577840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4" name="Image 0" descr="C:/Users/user/AppData/Local/Temp/claude/C--Users-user-OneDrive----AI-Fake-News-Verification-System/4ca91489-55cb-4794-b2ba-cff44a29bcbd/scratchpad/img/S1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749808"/>
            <a:ext cx="20231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為什麼假訊息查證是「劣構問題」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〔需求分析〕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沒有單一標準答案</a:t>
            </a:r>
            <a:endParaRPr lang="zh-TW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zh-TW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種標籤，出現在同一則謠言上</a:t>
            </a:r>
            <a:endParaRPr lang="zh-TW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同一則 SIM 卡謠言：ETtoday 的報導被標「假訊息」、華視的報導被標「安全」。判定對象必須是「被查核的主張」，而不是報導本身。</a:t>
            </a:r>
            <a:endParaRPr lang="zh-TW" sz="145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來源本身會髒</a:t>
            </a:r>
            <a:endParaRPr lang="zh-TW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63</a:t>
            </a:r>
            <a:endParaRPr lang="zh-TW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筆熱門牆是 Google News 轉址（2026-09-15 稽核）</a:t>
            </a:r>
            <a:endParaRPr lang="zh-TW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 237 筆沒有一筆做過來源分級；AI 還會引用求證平台上「有人問、還沒判定」的貼文。</a:t>
            </a:r>
            <a:endParaRPr lang="zh-TW" sz="14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限制一直在變</a:t>
            </a:r>
            <a:endParaRPr lang="zh-TW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148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zh-TW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AI 服務同一天失效（2026-09-14）</a:t>
            </a:r>
            <a:endParaRPr lang="zh-TW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033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CGU 401、myai168 的 OpenAI 400 與 Claude 402；Meta 開發模式只讀得到測試者的貼文；原排程一週 152 小時做不完。每一項都得重新取捨。</a:t>
            </a:r>
            <a:endParaRPr lang="zh-TW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我們把「怎樣才算可信」本身當成需求來分析，而不是只接一個 AI API。</a:t>
            </a:r>
            <a:endParaRPr lang="zh-TW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走完一次完整設計循環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〔全部〕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00_consensus.md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grill 共識</a:t>
            </a:r>
            <a:endParaRPr lang="zh-TW" sz="1600" dirty="0"/>
          </a:p>
        </p:txBody>
      </p:sp>
      <p:sp>
        <p:nvSpPr>
          <p:cNvPr id="8" name="Shape 6"/>
          <p:cNvSpPr/>
          <p:nvPr/>
        </p:nvSpPr>
        <p:spPr>
          <a:xfrm>
            <a:off x="2203704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45106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9970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01_spec.md v1.3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mockup 9 張畫板</a:t>
            </a:r>
            <a:endParaRPr lang="zh-TW" sz="1600" dirty="0"/>
          </a:p>
        </p:txBody>
      </p:sp>
      <p:sp>
        <p:nvSpPr>
          <p:cNvPr id="11" name="Shape 9"/>
          <p:cNvSpPr/>
          <p:nvPr/>
        </p:nvSpPr>
        <p:spPr>
          <a:xfrm>
            <a:off x="4100170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1571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6435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03_tickets.md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張票</a:t>
            </a:r>
            <a:endParaRPr lang="zh-TW" sz="1600" dirty="0"/>
          </a:p>
        </p:txBody>
      </p:sp>
      <p:sp>
        <p:nvSpPr>
          <p:cNvPr id="14" name="Shape 12"/>
          <p:cNvSpPr/>
          <p:nvPr/>
        </p:nvSpPr>
        <p:spPr>
          <a:xfrm>
            <a:off x="5996635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8037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2901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測試驗證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TP-FNV-2026-01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pytest ＋ CI</a:t>
            </a:r>
            <a:endParaRPr lang="zh-TW" sz="1600" dirty="0"/>
          </a:p>
        </p:txBody>
      </p:sp>
      <p:sp>
        <p:nvSpPr>
          <p:cNvPr id="17" name="Shape 15"/>
          <p:cNvSpPr/>
          <p:nvPr/>
        </p:nvSpPr>
        <p:spPr>
          <a:xfrm>
            <a:off x="7893101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4502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9366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 資料清洗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DEF-01／02 修正</a:t>
            </a:r>
            <a:endParaRPr lang="zh-TW" sz="1600" dirty="0"/>
          </a:p>
        </p:txBody>
      </p:sp>
      <p:sp>
        <p:nvSpPr>
          <p:cNvPr id="20" name="Shape 18"/>
          <p:cNvSpPr/>
          <p:nvPr/>
        </p:nvSpPr>
        <p:spPr>
          <a:xfrm>
            <a:off x="9789566" y="1920240"/>
            <a:ext cx="21397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30968" y="1371600"/>
            <a:ext cx="1627632" cy="109728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85832" y="1371600"/>
            <a:ext cx="1517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storyboard.md</a:t>
            </a:r>
            <a:endParaRPr lang="zh-TW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</a:t>
            </a:r>
            <a:endParaRPr lang="zh-TW" sz="1600" dirty="0"/>
          </a:p>
        </p:txBody>
      </p:sp>
      <p:sp>
        <p:nvSpPr>
          <p:cNvPr id="23" name="Shape 21"/>
          <p:cNvSpPr/>
          <p:nvPr/>
        </p:nvSpPr>
        <p:spPr>
          <a:xfrm>
            <a:off x="10844784" y="2468880"/>
            <a:ext cx="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62456" y="2788920"/>
            <a:ext cx="948232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2456" y="2487168"/>
            <a:ext cx="0" cy="30175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828800" y="28620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第二次循環：2026 上半年的第一版做出可用 MVP → 這次針對第一版暴露的問題重做，每一步都留下文件可回溯</a:t>
            </a:r>
            <a:endParaRPr lang="zh-TW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 → 設計</a:t>
            </a:r>
            <a:endParaRPr lang="zh-TW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grill 共識 → 規格 v1.3（19 條功能需求、測試通過準則）→ mockup 9 張畫板＋強調色比較。規格經兩輪審查，共 45＋21 條意見。</a:t>
            </a:r>
            <a:endParaRPr lang="zh-TW" sz="1450" dirty="0"/>
          </a:p>
        </p:txBody>
      </p:sp>
      <p:sp>
        <p:nvSpPr>
          <p:cNvPr id="30" name="Shape 28"/>
          <p:cNvSpPr/>
          <p:nvPr/>
        </p:nvSpPr>
        <p:spPr>
          <a:xfrm>
            <a:off x="434340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→ 測試驗證</a:t>
            </a:r>
            <a:endParaRPr lang="zh-TW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 張票（primitives → screens → 後端／資料／Threads），報告週切片 A 已完成 69 張。測試計畫書 46 項、pytest 478＋前端 375、150 筆評測。</a:t>
            </a:r>
            <a:endParaRPr lang="zh-TW" sz="1450" dirty="0"/>
          </a:p>
        </p:txBody>
      </p:sp>
      <p:sp>
        <p:nvSpPr>
          <p:cNvPr id="33" name="Shape 31"/>
          <p:cNvSpPr/>
          <p:nvPr/>
        </p:nvSpPr>
        <p:spPr>
          <a:xfrm>
            <a:off x="8138160" y="342900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36850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→ 展示</a:t>
            </a:r>
            <a:endParaRPr lang="zh-TW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2062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TW" altLang="en-US" sz="14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 dry-run → 人工審閱 → 套用。3 分鐘 demo 影片。整合 React、Vercel、FastAPI、向量檢索、LLM 閘道、Threads API、Cloudflare Tunnel。</a:t>
            </a:r>
            <a:endParaRPr lang="zh-TW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系統架構：一條查證管線、兩個入口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960120" y="3886200"/>
            <a:ext cx="10698480" cy="2286000"/>
          </a:xfrm>
          <a:prstGeom prst="roundRect">
            <a:avLst>
              <a:gd name="adj" fmla="val 4800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查證管線（三層快取）</a:t>
            </a:r>
            <a:endParaRPr lang="zh-TW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13258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網站（手機／桌機）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endParaRPr lang="zh-TW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783080"/>
            <a:ext cx="77724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377440" y="14813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 代理</a:t>
            </a:r>
            <a:endParaRPr lang="zh-TW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0984" y="13258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tunnel</a:t>
            </a:r>
            <a:endParaRPr lang="zh-TW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783080"/>
            <a:ext cx="457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86984" y="1325880"/>
            <a:ext cx="1901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後端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負責人電腦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網站與機器人</a:t>
            </a:r>
            <a:endParaRPr lang="zh-TW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共用同一條管線</a:t>
            </a:r>
            <a:endParaRPr lang="zh-TW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242316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10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報告版：模擬模式</a:t>
            </a:r>
            <a:endParaRPr lang="zh-TW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880360"/>
            <a:ext cx="306324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926080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輪詢提及／回覆</a:t>
            </a:r>
            <a:endParaRPr lang="zh-TW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3716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快取先擋掉重複的問題</a:t>
            </a:r>
            <a:endParaRPr lang="zh-TW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TW" alt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真的沒看過才花 AI 額度：每次 AI 查證約 USD 0.006，命中快取不花額度。</a:t>
            </a:r>
            <a:endParaRPr lang="zh-TW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423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93024" y="242316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 /r/{id}</a:t>
            </a:r>
            <a:endParaRPr lang="zh-TW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燈號＋摘要＋查核來源</a:t>
            </a:r>
            <a:endParaRPr lang="zh-TW" sz="1200" dirty="0"/>
          </a:p>
        </p:txBody>
      </p:sp>
      <p:sp>
        <p:nvSpPr>
          <p:cNvPr id="24" name="Shape 22"/>
          <p:cNvSpPr/>
          <p:nvPr/>
        </p:nvSpPr>
        <p:spPr>
          <a:xfrm>
            <a:off x="9966960" y="2880360"/>
            <a:ext cx="45720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921240" y="2606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</a:t>
            </a:r>
            <a:endParaRPr lang="zh-TW" sz="900" dirty="0"/>
          </a:p>
        </p:txBody>
      </p:sp>
      <p:sp>
        <p:nvSpPr>
          <p:cNvPr id="26" name="Shape 24"/>
          <p:cNvSpPr/>
          <p:nvPr/>
        </p:nvSpPr>
        <p:spPr>
          <a:xfrm>
            <a:off x="10424160" y="242316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79024" y="242316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發文頁</a:t>
            </a:r>
            <a:endParaRPr lang="zh-TW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Intent</a:t>
            </a:r>
            <a:endParaRPr lang="zh-TW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4800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43584" y="4800600"/>
            <a:ext cx="144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內容 hash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p50 213 ms</a:t>
            </a:r>
            <a:endParaRPr lang="zh-TW" sz="1150" dirty="0"/>
          </a:p>
        </p:txBody>
      </p:sp>
      <p:sp>
        <p:nvSpPr>
          <p:cNvPr id="30" name="Shape 28"/>
          <p:cNvSpPr/>
          <p:nvPr/>
        </p:nvSpPr>
        <p:spPr>
          <a:xfrm>
            <a:off x="274320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697480" y="4910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未命中</a:t>
            </a:r>
            <a:endParaRPr lang="zh-TW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4800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9544" y="480060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 向量相似度 ≥ 0.75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只比對已證實的判定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3.06 s</a:t>
            </a:r>
            <a:endParaRPr lang="zh-TW" sz="1150" dirty="0"/>
          </a:p>
        </p:txBody>
      </p:sp>
      <p:sp>
        <p:nvSpPr>
          <p:cNvPr id="34" name="Shape 32"/>
          <p:cNvSpPr/>
          <p:nvPr/>
        </p:nvSpPr>
        <p:spPr>
          <a:xfrm>
            <a:off x="525780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212080" y="4910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未命中</a:t>
            </a:r>
            <a:endParaRPr lang="zh-TW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48006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24144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 長庚 CGU AIR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8.8 s</a:t>
            </a:r>
            <a:endParaRPr lang="zh-TW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092440" y="48006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47304" y="4800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 Tier 1／2／3</a:t>
            </a:r>
            <a:endParaRPr lang="zh-TW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知識庫寫入門檻</a:t>
            </a:r>
            <a:endParaRPr lang="zh-TW" sz="1150" dirty="0"/>
          </a:p>
        </p:txBody>
      </p:sp>
      <p:sp>
        <p:nvSpPr>
          <p:cNvPr id="41" name="Shape 39"/>
          <p:cNvSpPr/>
          <p:nvPr/>
        </p:nvSpPr>
        <p:spPr>
          <a:xfrm>
            <a:off x="10104120" y="5234940"/>
            <a:ext cx="36576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100584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回填</a:t>
            </a:r>
            <a:endParaRPr lang="zh-TW" sz="850" dirty="0"/>
          </a:p>
        </p:txBody>
      </p:sp>
      <p:sp>
        <p:nvSpPr>
          <p:cNvPr id="43" name="Shape 41"/>
          <p:cNvSpPr/>
          <p:nvPr/>
        </p:nvSpPr>
        <p:spPr>
          <a:xfrm>
            <a:off x="10469880" y="4800600"/>
            <a:ext cx="1051560" cy="868680"/>
          </a:xfrm>
          <a:prstGeom prst="can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69880" y="49377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.parquet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3337560"/>
            <a:ext cx="0" cy="3200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3657600"/>
            <a:ext cx="4983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3657600"/>
            <a:ext cx="0" cy="15773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5234940"/>
            <a:ext cx="411480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96596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98280" y="4462272"/>
            <a:ext cx="0" cy="33832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65960" y="4462272"/>
            <a:ext cx="71323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98280" y="3355848"/>
            <a:ext cx="0" cy="110642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54" name="Text 52"/>
          <p:cNvSpPr txBox="1"/>
          <p:nvPr/>
        </p:nvSpPr>
        <p:spPr>
          <a:xfrm>
            <a:off x="5852160" y="4224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命中／判定完成 → 結果頁</a:t>
            </a:r>
            <a:endParaRPr lang="zh-TW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60120" y="623620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延遲為 2026-09-16 用戶端 p50。0.75 門檻為實測校準：同一謠言改寫版 0.79～0.82、不同謠言 ≤ 0.68、不同主題 ≤ 0.52。</a:t>
            </a:r>
            <a:endParaRPr lang="zh-TW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報告週範圍：先做影片看得到的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〔設計／修正〕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zh-TW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張票（03_tickets.md）</a:t>
            </a:r>
            <a:endParaRPr lang="zh-TW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zh-TW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張已完成（報告週切片 A）</a:t>
            </a:r>
            <a:endParaRPr lang="zh-TW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435608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h</a:t>
            </a:r>
            <a:endParaRPr lang="zh-TW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原排程一週工時，做不完 → 改做切片</a:t>
            </a:r>
            <a:endParaRPr lang="zh-TW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報告前完成</a:t>
            </a:r>
            <a:endParaRPr lang="zh-TW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文字／網址查證、結果頁 /r/{id}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分享到 Threads（Web Intent）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熱門牆、知識庫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來源分級與資料清洗（D-05 已套用）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模擬模式閉環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測試計畫書 v1.0＋本輪測試執行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gpt-5.4-mini 重跑評測、快取延遲量測（09-16 補做）</a:t>
            </a:r>
            <a:endParaRPr lang="zh-TW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報告後（每項都有票）</a:t>
            </a:r>
            <a:endParaRPr lang="zh-TW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實機串接：Meta App、測試者、token、兩段式發佈與錯誤分流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/bot 狀態頁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向量命中率重測（PF-2）、評測資料集擴充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深色全套截圖檢核、無障礙（P-18）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圖片查證（P1）、文件同步（B-25）</a:t>
            </a:r>
            <a:endParaRPr lang="zh-TW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25146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2770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明確不做</a:t>
            </a:r>
            <a:endParaRPr lang="zh-TW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33756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影片查證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FB／IG 平台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把使用者原文送 Google 搜尋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帳號登入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Webhook</a:t>
            </a:r>
            <a:endParaRPr lang="zh-TW" sz="1400" dirty="0"/>
          </a:p>
          <a:p>
            <a:pPr algn="l" indent="0" marL="0">
              <a:lnSpc>
                <a:spcPct val="115000"/>
              </a:lnSpc>
              <a:spcAft>
                <a:spcPts val="700"/>
              </a:spcAft>
              <a:buNone/>
            </a:pPr>
            <a:r>
              <a:rPr lang="zh-TW" altLang="en-US" sz="13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理由：成本、隱私，或需要企業驗證</a:t>
            </a:r>
            <a:endParaRPr lang="zh-TW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來源分級：只有「已做出判定」的來源才算數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〔設計 → 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1　查核機構</a:t>
            </a:r>
            <a:endParaRPr lang="zh-TW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台灣事實查核中心、MyGoPen、有 RUMOR／NOT_RUMOR 回覆的 Cofacts、*.gov.tw、WHO／CDC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2　主流媒體查核報導</a:t>
            </a:r>
            <a:endParaRPr lang="zh-TW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15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標題同時含查核語境與判定詞才算（判的是主張，不是報導）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4206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 3　其他</a:t>
            </a:r>
            <a:endParaRPr lang="zh-TW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941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對外不顯示、不寫入「已證實」、不參與向量命中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4206240" cy="1856232"/>
          </a:xfrm>
          <a:prstGeom prst="roundRect">
            <a:avLst>
              <a:gd name="adj" fmla="val 4926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43984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450" b="1" dirty="0">
                <a:solidFill>
                  <a:srgbClr val="B5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 Tier 1／2 來源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3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結果頁明示「尚無查核機構證實」、不給綠燈；知識庫頁與向量命中只收已證實的判定。</a:t>
            </a:r>
            <a:endParaRPr lang="zh-TW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對外只顯示 Tier 1／2：寧可說「還沒被證實」，也不硬給一個看起來有來源的答案。</a:t>
            </a:r>
            <a:endParaRPr lang="zh-TW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 D-05（2026-09-16 套用）</a:t>
            </a:r>
            <a:endParaRPr lang="zh-TW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847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</a:t>
            </a:r>
            <a:endParaRPr lang="zh-TW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1214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→ 218</a:t>
            </a:r>
            <a:endParaRPr lang="zh-TW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84708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已證實 128 筆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（113 筆帶向量）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未證實 90 筆保留、不對外</a:t>
            </a:r>
            <a:endParaRPr lang="zh-TW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2907792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578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熱門牆</a:t>
            </a:r>
            <a:endParaRPr lang="zh-TW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→ 24</a:t>
            </a:r>
            <a:endParaRPr lang="zh-TW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01752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全部已證實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只留三個查核網站的資料</a:t>
            </a:r>
            <a:endParaRPr lang="zh-TW" sz="1400" dirty="0"/>
          </a:p>
        </p:txBody>
      </p:sp>
      <p:sp>
        <p:nvSpPr>
          <p:cNvPr id="26" name="Shape 24"/>
          <p:cNvSpPr/>
          <p:nvPr/>
        </p:nvSpPr>
        <p:spPr>
          <a:xfrm>
            <a:off x="5074920" y="4078224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7800" y="4187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News 轉址</a:t>
            </a:r>
            <a:endParaRPr lang="zh-TW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44622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→ 0</a:t>
            </a:r>
            <a:endParaRPr lang="zh-TW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1879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解析不出真正網址、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爬不到內文，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zh-TW" altLang="en-US" sz="10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依規則不得當來源</a:t>
            </a:r>
            <a:endParaRPr lang="zh-TW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52852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流程：dry-run → 人工審閱 → 套用並自動備份。刪除的髒資料類型：徵才公告、小考題、闢謠 TOP10 列表、標籤雲、聊天碎片、一般新聞報導。以本地模型 gpt-oss:20b 做第二意見（300 筆，不花 OpenAI 額度）。</a:t>
            </a:r>
            <a:endParaRPr lang="zh-TW" sz="1050" dirty="0"/>
          </a:p>
        </p:txBody>
      </p:sp>
      <p:pic>
        <p:nvPicPr>
          <p:cNvPr id="31" name="Image 0" descr="C:/Users/user/AppData/Local/Temp/claude/C--Users-user-OneDrive----AI-Fake-News-Verification-System/4ca91489-55cb-4794-b2ba-cff44a29bcbd/scratchpad/img/S2_unverified_safe_375_light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325880"/>
            <a:ext cx="2011680" cy="482803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464040" y="6199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結果頁：黃燈「尚無查核機構證實」</a:t>
            </a:r>
            <a:endParaRPr lang="zh-TW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機器人：開發模式與上線條件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〔實作〕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25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 -&gt; mention m1 -&gt; cache hash -&gt; sources: 1 x tier1 -&gt; reply sim_reply_1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result_id=eb06622e-0592-4361-bfbd-0046b745cba6 frame_type=red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--poll 終端機實際輸出（模擬模式，L1 hash 命中、未呼叫 AI）</a:t>
            </a:r>
            <a:endParaRPr lang="zh-TW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2120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743200"/>
            <a:ext cx="182880" cy="182880"/>
          </a:xfrm>
          <a:prstGeom prst="ellipse">
            <a:avLst/>
          </a:prstGeom>
          <a:solidFill>
            <a:srgbClr val="D92D20"/>
          </a:solidFill>
          <a:ln w="6350">
            <a:solidFill>
              <a:srgbClr val="D92D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2633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D92D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詐騙警告</a:t>
            </a:r>
            <a:endParaRPr lang="zh-TW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5468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冒用健保署名義的釣魚詐騙：</a:t>
            </a:r>
            <a:br/>
            <a:pPr algn="l" indent="0" marL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以「即日起停用、逾期停卡」製造急迫感誘騙點連結，</a:t>
            </a:r>
            <a:br/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健保署不會要求民眾點連結驗證健保卡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查核來源：https://www.mygopen.com/2026/08/line.html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完整判讀：https://fakenewsverify.vercel.app/r/eb06622e-…</a:t>
            </a:r>
            <a:endParaRPr lang="zh-TW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zh-TW" alt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自動判讀，請自行查證。</a:t>
            </a:r>
            <a:endParaRPr lang="zh-TW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303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replies.jsonl 實際回覆內容（≤ 500 字；實機串接後格式相同，只換 Threads 用戶端）</a:t>
            </a:r>
            <a:endParaRPr lang="zh-TW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623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205–264 ms</a:t>
            </a:r>
            <a:pPr algn="l" indent="0" marL="0">
              <a:buNone/>
            </a:pPr>
            <a:r>
              <a:rPr lang="zh-TW" alt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模擬模式文字提及 → 回覆寫入（3 輪實測，準則 ≤ 60 s）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325880"/>
            <a:ext cx="5349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使用方式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在可疑貼文底下回覆並標記 @factcheck_tw_bot → 機器人回覆燈號、一句摘要、查核來源、結果頁連結（≤ 500 字，AI 幻覺出的死連結已被過濾）。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目前進度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模擬模式閉環可展示，處理流程與正式串接完全相同、只換 Threads 用戶端（讀本機 JSON、寫 replies.jsonl）。實機串接需 Meta App、測試者邀請、60 天 token，以及兩段式發佈與錯誤分流程式（T-12／T-13），排在報告後。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上線條件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zh-TW" altLang="en-US" sz="12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未審核前只讀得到測試者的公開貼文；公開給所有人需通過 Meta App Review 與企業驗證，論文列為上線條件。</a:t>
            </a:r>
            <a:endParaRPr lang="zh-TW" sz="1400" dirty="0"/>
          </a:p>
        </p:txBody>
      </p:sp>
      <p:pic>
        <p:nvPicPr>
          <p:cNvPr id="17" name="Image 0" descr="C:/Users/user/AppData/Local/Temp/claude/C--Users-user-OneDrive----AI-Fake-News-Verification-System/4ca91489-55cb-4794-b2ba-cff44a29bcbd/scratchpad/img/S1_threads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4572000"/>
            <a:ext cx="5486400" cy="158557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172200" y="61996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網站首頁的說明卡：對使用者明示「目前為開發模式」</a:t>
            </a:r>
            <a:endParaRPr lang="zh-TW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影片（約 3 分鐘）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〔展示〕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223760" cy="4063365"/>
          </a:xfrm>
          <a:prstGeom prst="roundRect">
            <a:avLst>
              <a:gd name="adj" fmla="val 2700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3776472" y="2580323"/>
            <a:ext cx="685800" cy="685800"/>
          </a:xfrm>
          <a:prstGeom prst="triangl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94723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播放 demo 影片（約 3 分鐘）</a:t>
            </a:r>
            <a:endParaRPr lang="zh-TW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0211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字幕全程標示模擬模式 · 本機檔案，未內嵌於簡報</a:t>
            </a:r>
            <a:endParaRPr lang="zh-TW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2125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現場時間不足或影片另交時，只播鏡 3–8（Threads 模擬閉環 → AI 即時判讀，依分鏡約 2 分鐘）</a:t>
            </a:r>
            <a:endParaRPr lang="zh-TW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37160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Threads 模擬閉環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標記機器人 → 命中快取的紅燈回覆 → 手機結果頁 → 分享回 Threads。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三層快取實證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同一則謠言換個說法命中「語意相似」；全新訊息才交給 AI 即時判讀。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誠實呈現</a:t>
            </a:r>
            <a:endParaRPr lang="zh-TW" sz="1400" dirty="0"/>
          </a:p>
          <a:p>
            <a:pPr algn="l"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zh-TW" altLang="en-US" sz="1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模擬模式全程標示、「尚無查核機構證實」橫幅、數據字卡只放已實測的數字。</a:t>
            </a:r>
            <a:endParaRPr lang="zh-TW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測試計畫 TP-FNV-2026-01 與目前證據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〔測試驗證〕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項</a:t>
            </a:r>
            <a:endParaRPr lang="zh-TW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類測試項目（P0 30）：操作 9、功能 16、介面 8、績效 7、品質 6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158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</a:t>
            </a:r>
            <a:endParaRPr lang="zh-TW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6158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pytest 全數通過（離線、零點數，執行 &lt; 60 s）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</a:t>
            </a:r>
            <a:endParaRPr lang="zh-TW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前端單元測試全數通過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898398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514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綠燈</a:t>
            </a:r>
            <a:endParaRPr lang="zh-TW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8514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test＋frontend 兩個 job（commit ad13f2f）</a:t>
            </a:r>
            <a:endParaRPr lang="zh-TW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6766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868680"/>
                <a:gridCol w="685800"/>
                <a:gridCol w="1188720"/>
                <a:gridCol w="685800"/>
                <a:gridCol w="685800"/>
                <a:gridCol w="6858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本次執行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通過（待補驗）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未通過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未執行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介面測試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績效測試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品質測試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46908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本輪執行結果（2026-09-16，測試計畫書 §6.1）</a:t>
            </a:r>
            <a:endParaRPr lang="zh-TW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834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已驗證、可引用的數字</a:t>
            </a:r>
            <a:endParaRPr lang="zh-TW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zh-TW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筆評測 accuracy（FN 0、FP 0）</a:t>
            </a:r>
            <a:endParaRPr lang="zh-TW" sz="900" dirty="0"/>
          </a:p>
        </p:txBody>
      </p:sp>
      <p:sp>
        <p:nvSpPr>
          <p:cNvPr id="24" name="Shape 21"/>
          <p:cNvSpPr/>
          <p:nvPr/>
        </p:nvSpPr>
        <p:spPr>
          <a:xfrm>
            <a:off x="2270455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71623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ms</a:t>
            </a:r>
            <a:endParaRPr lang="zh-TW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2471623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hash 快取命中 p50（p95 257 ms）</a:t>
            </a:r>
            <a:endParaRPr lang="zh-TW" sz="900" dirty="0"/>
          </a:p>
        </p:txBody>
      </p:sp>
      <p:sp>
        <p:nvSpPr>
          <p:cNvPr id="27" name="Shape 24"/>
          <p:cNvSpPr/>
          <p:nvPr/>
        </p:nvSpPr>
        <p:spPr>
          <a:xfrm>
            <a:off x="3992270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93438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3.06 s</a:t>
            </a:r>
            <a:endParaRPr lang="zh-TW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193438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向量快取命中 p50</a:t>
            </a:r>
            <a:endParaRPr lang="zh-TW" sz="900" dirty="0"/>
          </a:p>
        </p:txBody>
      </p:sp>
      <p:sp>
        <p:nvSpPr>
          <p:cNvPr id="30" name="Shape 27"/>
          <p:cNvSpPr/>
          <p:nvPr/>
        </p:nvSpPr>
        <p:spPr>
          <a:xfrm>
            <a:off x="5714086" y="5285232"/>
            <a:ext cx="1600200" cy="896112"/>
          </a:xfrm>
          <a:prstGeom prst="roundRect">
            <a:avLst>
              <a:gd name="adj" fmla="val 10204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15254" y="539496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205–264 ms</a:t>
            </a:r>
            <a:endParaRPr lang="zh-TW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5915254" y="5760720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模擬回覆</a:t>
            </a:r>
            <a:endParaRPr lang="zh-TW" sz="900" dirty="0"/>
          </a:p>
        </p:txBody>
      </p:sp>
      <p:sp>
        <p:nvSpPr>
          <p:cNvPr id="33" name="Shape 30"/>
          <p:cNvSpPr/>
          <p:nvPr/>
        </p:nvSpPr>
        <p:spPr>
          <a:xfrm>
            <a:off x="7589520" y="2560320"/>
            <a:ext cx="4069080" cy="3621024"/>
          </a:xfrm>
          <a:prstGeom prst="roundRect">
            <a:avLst>
              <a:gd name="adj" fmla="val 3030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0" y="26974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450" b="1" dirty="0">
                <a:solidFill>
                  <a:srgbClr val="B5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 通過準則本輪未全數達成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 通過 23／30（含待補驗 2）。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 3：FN-4 Threads 實機錯誤處理（429 backoff、未知 4xx 分流、兩段式發佈）未實作 → T-12／T-13，09-24～30；PF-2 向量命中率 65% 未達 70%（差 1 筆）→ 10-05 前以組員審定題組重測；QA-2 評測報告缺 provider／model／timing 欄位 → B-23。</a:t>
            </a:r>
            <a:endParaRPr lang="zh-TW" sz="14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未執行 4：OP-1 全新 clone、UI-1 深色全套與組員勾核、UI-6 簡繁比對、PF-1 未命中量測（缺前置票）。</a:t>
            </a:r>
            <a:endParaRPr lang="zh-TW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審查建議：有條件通過——引用已驗證數字，同時揭露未達標項目與時程。</a:t>
            </a:r>
            <a:endParaRPr lang="zh-TW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評測結果：舊模型 vs 新模型（150 筆標註）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〔測試驗證〕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zh-TW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15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資料集：150 筆人工標註（SCAM／MISINFO／SAFE 各 50），刻意放入「像詐騙的合法官方訊息」當難題。</a:t>
            </a:r>
            <a:endParaRPr lang="zh-TW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舊：gpt-5-mini</a:t>
            </a:r>
            <a:endParaRPr lang="zh-TW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92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myai168 閘道 · 2026-06（git 9d63eef）</a:t>
            </a:r>
            <a:endParaRPr lang="zh-TW" sz="1050" dirty="0"/>
          </a:p>
        </p:txBody>
      </p:sp>
      <p:pic>
        <p:nvPicPr>
          <p:cNvPr id="10" name="Image 0" descr="C:/Users/user/AppData/Local/Temp/claude/C--Users-user-OneDrive----AI-Fake-News-Verification-System/4ca91489-55cb-4794-b2ba-cff44a29bcbd/scratchpad/img/cm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788920" cy="22814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5760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zh-TW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zh-TW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3375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zh-TW" alt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0 · FP 5</a:t>
            </a:r>
            <a:endParaRPr lang="zh-TW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FN ＝ 風險訊息被判成安全</a:t>
            </a:r>
            <a:endParaRPr lang="zh-TW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新：gpt-5.4-mini</a:t>
            </a:r>
            <a:endParaRPr lang="zh-TW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1892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 CGU AIR 閘道 · 2026-09-16 重跑（推理強度 medium、web_search 關）</a:t>
            </a:r>
            <a:endParaRPr lang="zh-TW" sz="1050" dirty="0"/>
          </a:p>
        </p:txBody>
      </p:sp>
      <p:pic>
        <p:nvPicPr>
          <p:cNvPr id="17" name="Image 1" descr="C:/Users/user/AppData/Local/Temp/claude/C--Users-user-OneDrive----AI-Fake-News-Verification-System/4ca91489-55cb-4794-b2ba-cff44a29bcbd/scratchpad/img/cm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2788920" cy="228142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326880" y="2240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zh-TW" sz="4600" dirty="0"/>
          </a:p>
        </p:txBody>
      </p:sp>
      <p:sp>
        <p:nvSpPr>
          <p:cNvPr id="19" name="Text 15"/>
          <p:cNvSpPr txBox="1"/>
          <p:nvPr/>
        </p:nvSpPr>
        <p:spPr>
          <a:xfrm>
            <a:off x="932688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zh-TW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326880" y="33375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zh-TW" alt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zh-TW" sz="1400" dirty="0"/>
          </a:p>
          <a:p>
            <a:pPr algn="l"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0 · FP 0</a:t>
            </a:r>
            <a:endParaRPr lang="zh-TW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FN ＝ 風險訊息被判成安全</a:t>
            </a:r>
            <a:endParaRPr lang="zh-TW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48006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成對比較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TW" altLang="en-US" sz="12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兩模型判定不同的 6 筆全是「舊錯新對」（5 筆合法官方宣導被舊模型判成 SCAM、1 筆 MISINFO 判成 SCAM），0 筆「舊對新錯」；精確 McNemar 檢定 p = 0.031。舊模型那 6 筆的信心都 ≥ 0.9，代表信心未校準。</a:t>
            </a:r>
            <a:endParaRPr lang="zh-TW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217920" y="480060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限制（老實說）</a:t>
            </a:r>
            <a:endParaRPr lang="zh-TW" sz="14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TW" altLang="en-US" sz="12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 筆對新模型已飽和（accuracy 95% CI 下限 0.976），無法再區分模型或設定，需擴充資料集（例如 300 筆）並做信心校準；兩次也不只換模型——閘道與推理強度都不同，差異不能全歸因於模型本身。</a:t>
            </a:r>
            <a:endParaRPr lang="zh-TW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成本與風險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〔修正〕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</a:t>
            </a:r>
            <a:endParaRPr lang="zh-TW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新學期 CGU AIR 額度（另有本地模型 1,000 萬 tokens）；不另購 API</a:t>
            </a:r>
            <a:endParaRPr lang="zh-TW" sz="1050" dirty="0"/>
          </a:p>
        </p:txBody>
      </p:sp>
      <p:sp>
        <p:nvSpPr>
          <p:cNvPr id="9" name="Shape 7"/>
          <p:cNvSpPr/>
          <p:nvPr/>
        </p:nvSpPr>
        <p:spPr>
          <a:xfrm>
            <a:off x="336042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158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 1.2</a:t>
            </a:r>
            <a:endParaRPr lang="zh-TW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6158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截至 2026-09-16 已用：評測 0.94、影片配音與測試約 0.25</a:t>
            </a:r>
            <a:endParaRPr lang="zh-TW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0.006</a:t>
            </a:r>
            <a:endParaRPr lang="zh-TW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 AI 查證（未命中）平均；評測與批次一律關閉 web_search</a:t>
            </a:r>
            <a:endParaRPr lang="zh-TW" sz="1050" dirty="0"/>
          </a:p>
        </p:txBody>
      </p:sp>
      <p:sp>
        <p:nvSpPr>
          <p:cNvPr id="15" name="Shape 13"/>
          <p:cNvSpPr/>
          <p:nvPr/>
        </p:nvSpPr>
        <p:spPr>
          <a:xfrm>
            <a:off x="8983980" y="1280160"/>
            <a:ext cx="2674620" cy="105156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5148" y="1389888"/>
            <a:ext cx="2272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0.14</a:t>
            </a:r>
            <a:endParaRPr lang="zh-TW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185148" y="1892808"/>
            <a:ext cx="2272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TW" alt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影片製作（配音、語音抽查、實錄）</a:t>
            </a:r>
            <a:endParaRPr lang="zh-TW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603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 → 對策（每一項都有「壞了還能 demo」的退路）</a:t>
            </a:r>
            <a:endParaRPr lang="zh-TW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4436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540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CGU 是唯一 AI 來源</a:t>
            </a:r>
            <a:endParaRPr lang="zh-TW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0540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失敗回固定 fallback、不寫入知識庫、不回覆 Threads；額度用盡時網站顯示灰卡，不假裝判定。</a:t>
            </a:r>
            <a:endParaRPr lang="zh-TW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1513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後端跑在個人電腦＋quick tunnel</a:t>
            </a:r>
            <a:endParaRPr lang="zh-TW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15137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模擬模式可離線展示、影片預錄；結果 API 328 次請求 0 次 5xx；後端上雲報告後評估（含 Supabase）。</a:t>
            </a:r>
            <a:endParaRPr lang="zh-TW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38928"/>
            <a:ext cx="6309360" cy="987552"/>
          </a:xfrm>
          <a:prstGeom prst="roundRect">
            <a:avLst>
              <a:gd name="adj" fmla="val 9259"/>
            </a:avLst>
          </a:prstGeom>
          <a:solidFill>
            <a:srgbClr val="F7F7F8"/>
          </a:solidFill>
          <a:ln w="9525">
            <a:solidFill>
              <a:srgbClr val="F7F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24865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zh-TW" altLang="en-US" sz="125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資料清洗可能過度降級，知識庫與向量命中縮水</a:t>
            </a:r>
            <a:endParaRPr lang="zh-TW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52486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5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dry-run、人工審閱後才套用並自動備份；已證實 128 筆 ≥ 門檻 125；向量命中率 65% 待重測（DEF-05 修 11 筆向量）。</a:t>
            </a:r>
            <a:endParaRPr lang="zh-TW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560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本輪測試發現並修正的缺陷（都補了回歸測試）</a:t>
            </a:r>
            <a:endParaRPr lang="zh-TW" sz="1400" dirty="0"/>
          </a:p>
        </p:txBody>
      </p:sp>
      <p:sp>
        <p:nvSpPr>
          <p:cNvPr id="29" name="Shape 27"/>
          <p:cNvSpPr/>
          <p:nvPr/>
        </p:nvSpPr>
        <p:spPr>
          <a:xfrm>
            <a:off x="7178040" y="294436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60920" y="305409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DEF-01</a:t>
            </a:r>
            <a:endParaRPr lang="zh-TW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305409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結果頁偶發 500：讀到寫一半的 tasks.parquet → 改先寫暫存檔再原子替換、讀取失敗重試；全套 478 通過、存取 log 0 次 5xx。</a:t>
            </a:r>
            <a:endParaRPr lang="zh-TW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404164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0920" y="415137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DEF-02</a:t>
            </a:r>
            <a:endParaRPr lang="zh-TW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1513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舊任務 AI 失敗的結果仍可「分享到 Threads」→ 改以 is_fallback() 推導 ai_unavailable，分享資料改為 null。</a:t>
            </a:r>
            <a:endParaRPr lang="zh-TW" sz="1100" dirty="0"/>
          </a:p>
        </p:txBody>
      </p:sp>
      <p:sp>
        <p:nvSpPr>
          <p:cNvPr id="35" name="Shape 33"/>
          <p:cNvSpPr/>
          <p:nvPr/>
        </p:nvSpPr>
        <p:spPr>
          <a:xfrm>
            <a:off x="7178040" y="5138928"/>
            <a:ext cx="4480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60920" y="524865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QA-2 ③</a:t>
            </a:r>
            <a:endParaRPr lang="zh-TW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524865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zh-TW" altLang="en-US" sz="1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評測全對時錯誤檔殘留舊模型 6 筆 → 0 筆錯誤時輸出只有表頭的空檔。</a:t>
            </a:r>
            <a:endParaRPr lang="zh-TW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zh-TW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104120" y="530352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9525">
            <a:solidFill>
              <a:srgbClr val="3F3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〔下一輪循環〕</a:t>
            </a:r>
            <a:endParaRPr lang="zh-TW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全民查證公社 · 進度報告 2026-09</a:t>
            </a:r>
            <a:endParaRPr lang="zh-TW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8550554" cy="0"/>
          </a:xfrm>
          <a:prstGeom prst="line">
            <a:avLst/>
          </a:prstGeom>
          <a:noFill/>
          <a:ln w="190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8216" y="159105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09-21～23</a:t>
            </a:r>
            <a:endParaRPr lang="zh-TW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</a:t>
            </a:r>
            <a:endParaRPr lang="zh-TW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本簡報＋demo 影片</a:t>
            </a:r>
            <a:endParaRPr lang="zh-TW" sz="1150" dirty="0"/>
          </a:p>
        </p:txBody>
      </p:sp>
      <p:sp>
        <p:nvSpPr>
          <p:cNvPr id="11" name="Shape 9"/>
          <p:cNvSpPr/>
          <p:nvPr/>
        </p:nvSpPr>
        <p:spPr>
          <a:xfrm>
            <a:off x="4578401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825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09-24～30</a:t>
            </a:r>
            <a:endParaRPr lang="zh-TW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98825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Threads 實機串接</a:t>
            </a:r>
            <a:endParaRPr lang="zh-TW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98825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Meta App、測試者、token；兩段式發佈與錯誤分流（T-12／T-13）→ 實機端到端回覆驗證 → /bot 狀態頁；文件同步 B-25</a:t>
            </a:r>
            <a:endParaRPr lang="zh-TW" sz="1150" dirty="0"/>
          </a:p>
        </p:txBody>
      </p:sp>
      <p:sp>
        <p:nvSpPr>
          <p:cNvPr id="15" name="Shape 13"/>
          <p:cNvSpPr/>
          <p:nvPr/>
        </p:nvSpPr>
        <p:spPr>
          <a:xfrm>
            <a:off x="7428586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901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10-05 前</a:t>
            </a:r>
            <a:endParaRPr lang="zh-TW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49010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驗證補齊</a:t>
            </a:r>
            <a:endParaRPr lang="zh-TW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49010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向量命中率重測（先修 11 筆向量維度）；擴充評測資料集（300 筆）與信心校準；UI 深色全套與無障礙；計畫書 §6 更新</a:t>
            </a:r>
            <a:endParaRPr lang="zh-TW" sz="1150" dirty="0"/>
          </a:p>
        </p:txBody>
      </p:sp>
      <p:sp>
        <p:nvSpPr>
          <p:cNvPr id="19" name="Shape 17"/>
          <p:cNvSpPr/>
          <p:nvPr/>
        </p:nvSpPr>
        <p:spPr>
          <a:xfrm>
            <a:off x="10278770" y="1591056"/>
            <a:ext cx="201168" cy="201168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9194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上線前待決</a:t>
            </a:r>
            <a:endParaRPr lang="zh-TW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99194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三個決定</a:t>
            </a:r>
            <a:endParaRPr lang="zh-TW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99194" y="27432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zh-TW" altLang="en-US" sz="115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低信心紅燈是否降為黃燈（D-6）；後端是否移到雲端（含 Supabase 選項）；Meta App Review 與企業驗證</a:t>
            </a:r>
            <a:endParaRPr lang="zh-TW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109960" cy="1554480"/>
          </a:xfrm>
          <a:prstGeom prst="roundRect">
            <a:avLst>
              <a:gd name="adj" fmla="val 7059"/>
            </a:avLst>
          </a:prstGeom>
          <a:solidFill>
            <a:srgbClr val="1C1C1F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下一輪循環從實機串接開始；完成後把新評測與測試結果填進測試計畫書第 6 節。</a:t>
            </a:r>
            <a:endParaRPr lang="zh-TW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fakenewsverify.vercel.app</a:t>
            </a:r>
            <a:pPr algn="l" indent="0" marL="0">
              <a:buNone/>
            </a:pPr>
            <a:r>
              <a:rPr lang="zh-TW" altLang="en-US" sz="14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</a:t>
            </a:r>
            <a:pPr algn="l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@factcheck_tw_bot</a:t>
            </a:r>
            <a:pPr algn="l" indent="0" marL="0">
              <a:buNone/>
            </a:pPr>
            <a:r>
              <a:rPr lang="zh-TW" altLang="en-US" sz="1200" dirty="0">
                <a:solidFill>
                  <a:srgbClr val="A1A1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·　目前 Threads 為模擬模式；公開服務需通過 Meta App Review 與企業驗證</a:t>
            </a:r>
            <a:endParaRPr lang="zh-TW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文件：docs/rebuild/00_consensus.md → 01_spec.md → 03_tickets.md → docs/test/TP-FNV-2026-01.md → docs/demo/storyboard.md</a:t>
            </a:r>
            <a:endParaRPr lang="zh-TW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全民查證公社：AI 假訊息與詐騙查證系統（進度報告）</dc:title>
  <dc:subject>PptxGenJS Presentation</dc:subject>
  <dc:creator>全民查證公社</dc:creator>
  <cp:lastModifiedBy>全民查證公社</cp:lastModifiedBy>
  <cp:revision>1</cp:revision>
  <dcterms:created xsi:type="dcterms:W3CDTF">2026-09-19T03:50:23Z</dcterms:created>
  <dcterms:modified xsi:type="dcterms:W3CDTF">2026-09-19T03:50:23Z</dcterms:modified>
</cp:coreProperties>
</file>